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126438-7E5A-45C4-97A9-11380CDBF1A3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79FA5C4-7B78-41E8-98BC-4E58A03404F5}">
      <dgm:prSet/>
      <dgm:spPr/>
      <dgm:t>
        <a:bodyPr/>
        <a:lstStyle/>
        <a:p>
          <a:r>
            <a:rPr lang="en-US"/>
            <a:t>“Sliding windows ” technique was used to get data into a </a:t>
          </a:r>
          <a:r>
            <a:rPr lang="en-US" b="1"/>
            <a:t>supervised learning </a:t>
          </a:r>
          <a:r>
            <a:rPr lang="en-US"/>
            <a:t>format. Previous 100 days input was used to predict the next day price.</a:t>
          </a:r>
        </a:p>
      </dgm:t>
    </dgm:pt>
    <dgm:pt modelId="{336048C5-A2FF-4C89-AC2D-8F560024FDA3}" type="parTrans" cxnId="{63527552-379C-4BE3-B772-8EE7139E3BE1}">
      <dgm:prSet/>
      <dgm:spPr/>
      <dgm:t>
        <a:bodyPr/>
        <a:lstStyle/>
        <a:p>
          <a:endParaRPr lang="en-US"/>
        </a:p>
      </dgm:t>
    </dgm:pt>
    <dgm:pt modelId="{19176E7C-01CC-40FA-8EAC-9541FA9C03E4}" type="sibTrans" cxnId="{63527552-379C-4BE3-B772-8EE7139E3BE1}">
      <dgm:prSet/>
      <dgm:spPr/>
      <dgm:t>
        <a:bodyPr/>
        <a:lstStyle/>
        <a:p>
          <a:endParaRPr lang="en-US"/>
        </a:p>
      </dgm:t>
    </dgm:pt>
    <dgm:pt modelId="{9E8278B1-82EA-4441-A682-C67FE4CFC092}">
      <dgm:prSet/>
      <dgm:spPr/>
      <dgm:t>
        <a:bodyPr/>
        <a:lstStyle/>
        <a:p>
          <a:r>
            <a:rPr lang="en-US"/>
            <a:t>The neural network had 3 LSTM layers stacked. Of these two were just 50 units each and the final layer had just 1 layer. The final layer was kept only 1 neuron dense because it represents the output of just 1 variable.</a:t>
          </a:r>
        </a:p>
      </dgm:t>
    </dgm:pt>
    <dgm:pt modelId="{0185753A-EEF9-42EB-8D61-9B1B424907D6}" type="parTrans" cxnId="{6D4B8535-9A13-4B51-9BA0-F29296FE11E1}">
      <dgm:prSet/>
      <dgm:spPr/>
      <dgm:t>
        <a:bodyPr/>
        <a:lstStyle/>
        <a:p>
          <a:endParaRPr lang="en-US"/>
        </a:p>
      </dgm:t>
    </dgm:pt>
    <dgm:pt modelId="{F8AE5416-D1DF-416D-9D6C-DCA7B3923D01}" type="sibTrans" cxnId="{6D4B8535-9A13-4B51-9BA0-F29296FE11E1}">
      <dgm:prSet/>
      <dgm:spPr/>
      <dgm:t>
        <a:bodyPr/>
        <a:lstStyle/>
        <a:p>
          <a:endParaRPr lang="en-US"/>
        </a:p>
      </dgm:t>
    </dgm:pt>
    <dgm:pt modelId="{1EBF92B9-876A-4283-B597-EAF90C297FB6}">
      <dgm:prSet/>
      <dgm:spPr/>
      <dgm:t>
        <a:bodyPr/>
        <a:lstStyle/>
        <a:p>
          <a:r>
            <a:rPr lang="en-US"/>
            <a:t>The aim was to compile the model for minimizing mean squared error loss.(RMSE)</a:t>
          </a:r>
        </a:p>
      </dgm:t>
    </dgm:pt>
    <dgm:pt modelId="{7B449C73-0EBF-46BD-9D45-CAEB5BB2251E}" type="parTrans" cxnId="{A55DD6A8-4AA4-44E5-8F02-40DC079AC6DF}">
      <dgm:prSet/>
      <dgm:spPr/>
      <dgm:t>
        <a:bodyPr/>
        <a:lstStyle/>
        <a:p>
          <a:endParaRPr lang="en-US"/>
        </a:p>
      </dgm:t>
    </dgm:pt>
    <dgm:pt modelId="{8587F27C-2A8F-46DF-B756-C67D4E58E966}" type="sibTrans" cxnId="{A55DD6A8-4AA4-44E5-8F02-40DC079AC6DF}">
      <dgm:prSet/>
      <dgm:spPr/>
      <dgm:t>
        <a:bodyPr/>
        <a:lstStyle/>
        <a:p>
          <a:endParaRPr lang="en-US"/>
        </a:p>
      </dgm:t>
    </dgm:pt>
    <dgm:pt modelId="{29AD2826-FF2B-4E7F-BABB-59DAD70325D2}" type="pres">
      <dgm:prSet presAssocID="{2C126438-7E5A-45C4-97A9-11380CDBF1A3}" presName="outerComposite" presStyleCnt="0">
        <dgm:presLayoutVars>
          <dgm:chMax val="5"/>
          <dgm:dir/>
          <dgm:resizeHandles val="exact"/>
        </dgm:presLayoutVars>
      </dgm:prSet>
      <dgm:spPr/>
    </dgm:pt>
    <dgm:pt modelId="{5C176E74-45DD-4EFA-A8D5-081E83D751A7}" type="pres">
      <dgm:prSet presAssocID="{2C126438-7E5A-45C4-97A9-11380CDBF1A3}" presName="dummyMaxCanvas" presStyleCnt="0">
        <dgm:presLayoutVars/>
      </dgm:prSet>
      <dgm:spPr/>
    </dgm:pt>
    <dgm:pt modelId="{6E317FFA-02DF-4B5A-AF84-1436B943CE29}" type="pres">
      <dgm:prSet presAssocID="{2C126438-7E5A-45C4-97A9-11380CDBF1A3}" presName="ThreeNodes_1" presStyleLbl="node1" presStyleIdx="0" presStyleCnt="3">
        <dgm:presLayoutVars>
          <dgm:bulletEnabled val="1"/>
        </dgm:presLayoutVars>
      </dgm:prSet>
      <dgm:spPr/>
    </dgm:pt>
    <dgm:pt modelId="{A47C5C16-6210-4DD2-82F1-BCD963E18D7B}" type="pres">
      <dgm:prSet presAssocID="{2C126438-7E5A-45C4-97A9-11380CDBF1A3}" presName="ThreeNodes_2" presStyleLbl="node1" presStyleIdx="1" presStyleCnt="3">
        <dgm:presLayoutVars>
          <dgm:bulletEnabled val="1"/>
        </dgm:presLayoutVars>
      </dgm:prSet>
      <dgm:spPr/>
    </dgm:pt>
    <dgm:pt modelId="{048FD61B-3EC1-4FC0-A1B4-CCDD8403FFEF}" type="pres">
      <dgm:prSet presAssocID="{2C126438-7E5A-45C4-97A9-11380CDBF1A3}" presName="ThreeNodes_3" presStyleLbl="node1" presStyleIdx="2" presStyleCnt="3">
        <dgm:presLayoutVars>
          <dgm:bulletEnabled val="1"/>
        </dgm:presLayoutVars>
      </dgm:prSet>
      <dgm:spPr/>
    </dgm:pt>
    <dgm:pt modelId="{32348A63-4EF0-4D32-9073-E113F92E68FC}" type="pres">
      <dgm:prSet presAssocID="{2C126438-7E5A-45C4-97A9-11380CDBF1A3}" presName="ThreeConn_1-2" presStyleLbl="fgAccFollowNode1" presStyleIdx="0" presStyleCnt="2">
        <dgm:presLayoutVars>
          <dgm:bulletEnabled val="1"/>
        </dgm:presLayoutVars>
      </dgm:prSet>
      <dgm:spPr/>
    </dgm:pt>
    <dgm:pt modelId="{FF63CC12-311D-4873-BFB0-F63ACF366381}" type="pres">
      <dgm:prSet presAssocID="{2C126438-7E5A-45C4-97A9-11380CDBF1A3}" presName="ThreeConn_2-3" presStyleLbl="fgAccFollowNode1" presStyleIdx="1" presStyleCnt="2">
        <dgm:presLayoutVars>
          <dgm:bulletEnabled val="1"/>
        </dgm:presLayoutVars>
      </dgm:prSet>
      <dgm:spPr/>
    </dgm:pt>
    <dgm:pt modelId="{CD3AA07E-2CBE-4C26-96F8-228410C25BAD}" type="pres">
      <dgm:prSet presAssocID="{2C126438-7E5A-45C4-97A9-11380CDBF1A3}" presName="ThreeNodes_1_text" presStyleLbl="node1" presStyleIdx="2" presStyleCnt="3">
        <dgm:presLayoutVars>
          <dgm:bulletEnabled val="1"/>
        </dgm:presLayoutVars>
      </dgm:prSet>
      <dgm:spPr/>
    </dgm:pt>
    <dgm:pt modelId="{FD9C7CDD-83D4-4BF5-BE37-D3A0C603698B}" type="pres">
      <dgm:prSet presAssocID="{2C126438-7E5A-45C4-97A9-11380CDBF1A3}" presName="ThreeNodes_2_text" presStyleLbl="node1" presStyleIdx="2" presStyleCnt="3">
        <dgm:presLayoutVars>
          <dgm:bulletEnabled val="1"/>
        </dgm:presLayoutVars>
      </dgm:prSet>
      <dgm:spPr/>
    </dgm:pt>
    <dgm:pt modelId="{DDE12B5B-1C1C-43C1-8907-30DA6186D0B8}" type="pres">
      <dgm:prSet presAssocID="{2C126438-7E5A-45C4-97A9-11380CDBF1A3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6D4B8535-9A13-4B51-9BA0-F29296FE11E1}" srcId="{2C126438-7E5A-45C4-97A9-11380CDBF1A3}" destId="{9E8278B1-82EA-4441-A682-C67FE4CFC092}" srcOrd="1" destOrd="0" parTransId="{0185753A-EEF9-42EB-8D61-9B1B424907D6}" sibTransId="{F8AE5416-D1DF-416D-9D6C-DCA7B3923D01}"/>
    <dgm:cxn modelId="{63527552-379C-4BE3-B772-8EE7139E3BE1}" srcId="{2C126438-7E5A-45C4-97A9-11380CDBF1A3}" destId="{B79FA5C4-7B78-41E8-98BC-4E58A03404F5}" srcOrd="0" destOrd="0" parTransId="{336048C5-A2FF-4C89-AC2D-8F560024FDA3}" sibTransId="{19176E7C-01CC-40FA-8EAC-9541FA9C03E4}"/>
    <dgm:cxn modelId="{28D5B154-BDBC-4423-8487-790513AD22E3}" type="presOf" srcId="{9E8278B1-82EA-4441-A682-C67FE4CFC092}" destId="{A47C5C16-6210-4DD2-82F1-BCD963E18D7B}" srcOrd="0" destOrd="0" presId="urn:microsoft.com/office/officeart/2005/8/layout/vProcess5"/>
    <dgm:cxn modelId="{F82DA587-0A88-44B4-BA8B-D0408DE4CACF}" type="presOf" srcId="{1EBF92B9-876A-4283-B597-EAF90C297FB6}" destId="{048FD61B-3EC1-4FC0-A1B4-CCDD8403FFEF}" srcOrd="0" destOrd="0" presId="urn:microsoft.com/office/officeart/2005/8/layout/vProcess5"/>
    <dgm:cxn modelId="{64E3DD9E-0A52-4484-BA4D-A485AE2454FF}" type="presOf" srcId="{1EBF92B9-876A-4283-B597-EAF90C297FB6}" destId="{DDE12B5B-1C1C-43C1-8907-30DA6186D0B8}" srcOrd="1" destOrd="0" presId="urn:microsoft.com/office/officeart/2005/8/layout/vProcess5"/>
    <dgm:cxn modelId="{627C29A1-3C03-434E-8B71-9A989BF0EA32}" type="presOf" srcId="{B79FA5C4-7B78-41E8-98BC-4E58A03404F5}" destId="{CD3AA07E-2CBE-4C26-96F8-228410C25BAD}" srcOrd="1" destOrd="0" presId="urn:microsoft.com/office/officeart/2005/8/layout/vProcess5"/>
    <dgm:cxn modelId="{A55DD6A8-4AA4-44E5-8F02-40DC079AC6DF}" srcId="{2C126438-7E5A-45C4-97A9-11380CDBF1A3}" destId="{1EBF92B9-876A-4283-B597-EAF90C297FB6}" srcOrd="2" destOrd="0" parTransId="{7B449C73-0EBF-46BD-9D45-CAEB5BB2251E}" sibTransId="{8587F27C-2A8F-46DF-B756-C67D4E58E966}"/>
    <dgm:cxn modelId="{ED357BCD-01ED-48DF-AFA2-4802EAB73172}" type="presOf" srcId="{2C126438-7E5A-45C4-97A9-11380CDBF1A3}" destId="{29AD2826-FF2B-4E7F-BABB-59DAD70325D2}" srcOrd="0" destOrd="0" presId="urn:microsoft.com/office/officeart/2005/8/layout/vProcess5"/>
    <dgm:cxn modelId="{DBF419EA-DAE2-4728-88D5-7EC35468C8D4}" type="presOf" srcId="{9E8278B1-82EA-4441-A682-C67FE4CFC092}" destId="{FD9C7CDD-83D4-4BF5-BE37-D3A0C603698B}" srcOrd="1" destOrd="0" presId="urn:microsoft.com/office/officeart/2005/8/layout/vProcess5"/>
    <dgm:cxn modelId="{B4819FEE-C0D8-4350-9DB3-A2C1CABE3439}" type="presOf" srcId="{19176E7C-01CC-40FA-8EAC-9541FA9C03E4}" destId="{32348A63-4EF0-4D32-9073-E113F92E68FC}" srcOrd="0" destOrd="0" presId="urn:microsoft.com/office/officeart/2005/8/layout/vProcess5"/>
    <dgm:cxn modelId="{B6D4C2F7-6472-48BB-A5F5-09A4F042B45F}" type="presOf" srcId="{B79FA5C4-7B78-41E8-98BC-4E58A03404F5}" destId="{6E317FFA-02DF-4B5A-AF84-1436B943CE29}" srcOrd="0" destOrd="0" presId="urn:microsoft.com/office/officeart/2005/8/layout/vProcess5"/>
    <dgm:cxn modelId="{CFBBD9F9-A664-43D2-BF00-6009741F7814}" type="presOf" srcId="{F8AE5416-D1DF-416D-9D6C-DCA7B3923D01}" destId="{FF63CC12-311D-4873-BFB0-F63ACF366381}" srcOrd="0" destOrd="0" presId="urn:microsoft.com/office/officeart/2005/8/layout/vProcess5"/>
    <dgm:cxn modelId="{5DD73AD3-3131-4762-A242-EA724A5CCBE6}" type="presParOf" srcId="{29AD2826-FF2B-4E7F-BABB-59DAD70325D2}" destId="{5C176E74-45DD-4EFA-A8D5-081E83D751A7}" srcOrd="0" destOrd="0" presId="urn:microsoft.com/office/officeart/2005/8/layout/vProcess5"/>
    <dgm:cxn modelId="{B9FD036B-29EF-4D88-99D8-322F5FC2431E}" type="presParOf" srcId="{29AD2826-FF2B-4E7F-BABB-59DAD70325D2}" destId="{6E317FFA-02DF-4B5A-AF84-1436B943CE29}" srcOrd="1" destOrd="0" presId="urn:microsoft.com/office/officeart/2005/8/layout/vProcess5"/>
    <dgm:cxn modelId="{EC668ED9-5D9E-4FC8-81E0-CE77A55484B4}" type="presParOf" srcId="{29AD2826-FF2B-4E7F-BABB-59DAD70325D2}" destId="{A47C5C16-6210-4DD2-82F1-BCD963E18D7B}" srcOrd="2" destOrd="0" presId="urn:microsoft.com/office/officeart/2005/8/layout/vProcess5"/>
    <dgm:cxn modelId="{28637B33-B46C-4156-B2BB-52E492CA02BB}" type="presParOf" srcId="{29AD2826-FF2B-4E7F-BABB-59DAD70325D2}" destId="{048FD61B-3EC1-4FC0-A1B4-CCDD8403FFEF}" srcOrd="3" destOrd="0" presId="urn:microsoft.com/office/officeart/2005/8/layout/vProcess5"/>
    <dgm:cxn modelId="{EF428DCD-A450-4816-9BC6-5BCD8AD28F59}" type="presParOf" srcId="{29AD2826-FF2B-4E7F-BABB-59DAD70325D2}" destId="{32348A63-4EF0-4D32-9073-E113F92E68FC}" srcOrd="4" destOrd="0" presId="urn:microsoft.com/office/officeart/2005/8/layout/vProcess5"/>
    <dgm:cxn modelId="{4530A3BB-7A5D-4E79-9E78-348075A6D775}" type="presParOf" srcId="{29AD2826-FF2B-4E7F-BABB-59DAD70325D2}" destId="{FF63CC12-311D-4873-BFB0-F63ACF366381}" srcOrd="5" destOrd="0" presId="urn:microsoft.com/office/officeart/2005/8/layout/vProcess5"/>
    <dgm:cxn modelId="{84B822F7-F7FF-4A73-A2B7-718BFBFA771D}" type="presParOf" srcId="{29AD2826-FF2B-4E7F-BABB-59DAD70325D2}" destId="{CD3AA07E-2CBE-4C26-96F8-228410C25BAD}" srcOrd="6" destOrd="0" presId="urn:microsoft.com/office/officeart/2005/8/layout/vProcess5"/>
    <dgm:cxn modelId="{0B0631D3-D2E2-4E3D-AC34-315F5A2B4148}" type="presParOf" srcId="{29AD2826-FF2B-4E7F-BABB-59DAD70325D2}" destId="{FD9C7CDD-83D4-4BF5-BE37-D3A0C603698B}" srcOrd="7" destOrd="0" presId="urn:microsoft.com/office/officeart/2005/8/layout/vProcess5"/>
    <dgm:cxn modelId="{EC73111B-BE11-4CA5-AD8D-377616D5A581}" type="presParOf" srcId="{29AD2826-FF2B-4E7F-BABB-59DAD70325D2}" destId="{DDE12B5B-1C1C-43C1-8907-30DA6186D0B8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317FFA-02DF-4B5A-AF84-1436B943CE29}">
      <dsp:nvSpPr>
        <dsp:cNvPr id="0" name=""/>
        <dsp:cNvSpPr/>
      </dsp:nvSpPr>
      <dsp:spPr>
        <a:xfrm>
          <a:off x="0" y="0"/>
          <a:ext cx="6133953" cy="153337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“Sliding windows ” technique was used to get data into a </a:t>
          </a:r>
          <a:r>
            <a:rPr lang="en-US" sz="1700" b="1" kern="1200"/>
            <a:t>supervised learning </a:t>
          </a:r>
          <a:r>
            <a:rPr lang="en-US" sz="1700" kern="1200"/>
            <a:t>format. Previous 100 days input was used to predict the next day price.</a:t>
          </a:r>
        </a:p>
      </dsp:txBody>
      <dsp:txXfrm>
        <a:off x="44911" y="44911"/>
        <a:ext cx="4479319" cy="1443556"/>
      </dsp:txXfrm>
    </dsp:sp>
    <dsp:sp modelId="{A47C5C16-6210-4DD2-82F1-BCD963E18D7B}">
      <dsp:nvSpPr>
        <dsp:cNvPr id="0" name=""/>
        <dsp:cNvSpPr/>
      </dsp:nvSpPr>
      <dsp:spPr>
        <a:xfrm>
          <a:off x="541231" y="1788941"/>
          <a:ext cx="6133953" cy="1533378"/>
        </a:xfrm>
        <a:prstGeom prst="roundRect">
          <a:avLst>
            <a:gd name="adj" fmla="val 10000"/>
          </a:avLst>
        </a:prstGeom>
        <a:solidFill>
          <a:schemeClr val="accent2">
            <a:hueOff val="3536049"/>
            <a:satOff val="-13319"/>
            <a:lumOff val="1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neural network had 3 LSTM layers stacked. Of these two were just 50 units each and the final layer had just 1 layer. The final layer was kept only 1 neuron dense because it represents the output of just 1 variable.</a:t>
          </a:r>
        </a:p>
      </dsp:txBody>
      <dsp:txXfrm>
        <a:off x="586142" y="1833852"/>
        <a:ext cx="4506204" cy="1443556"/>
      </dsp:txXfrm>
    </dsp:sp>
    <dsp:sp modelId="{048FD61B-3EC1-4FC0-A1B4-CCDD8403FFEF}">
      <dsp:nvSpPr>
        <dsp:cNvPr id="0" name=""/>
        <dsp:cNvSpPr/>
      </dsp:nvSpPr>
      <dsp:spPr>
        <a:xfrm>
          <a:off x="1082462" y="3577882"/>
          <a:ext cx="6133953" cy="1533378"/>
        </a:xfrm>
        <a:prstGeom prst="roundRect">
          <a:avLst>
            <a:gd name="adj" fmla="val 10000"/>
          </a:avLst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aim was to compile the model for minimizing mean squared error loss.(RMSE)</a:t>
          </a:r>
        </a:p>
      </dsp:txBody>
      <dsp:txXfrm>
        <a:off x="1127373" y="3622793"/>
        <a:ext cx="4506204" cy="1443556"/>
      </dsp:txXfrm>
    </dsp:sp>
    <dsp:sp modelId="{32348A63-4EF0-4D32-9073-E113F92E68FC}">
      <dsp:nvSpPr>
        <dsp:cNvPr id="0" name=""/>
        <dsp:cNvSpPr/>
      </dsp:nvSpPr>
      <dsp:spPr>
        <a:xfrm>
          <a:off x="5137257" y="1162811"/>
          <a:ext cx="996695" cy="99669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361513" y="1162811"/>
        <a:ext cx="548183" cy="750013"/>
      </dsp:txXfrm>
    </dsp:sp>
    <dsp:sp modelId="{FF63CC12-311D-4873-BFB0-F63ACF366381}">
      <dsp:nvSpPr>
        <dsp:cNvPr id="0" name=""/>
        <dsp:cNvSpPr/>
      </dsp:nvSpPr>
      <dsp:spPr>
        <a:xfrm>
          <a:off x="5678489" y="2941530"/>
          <a:ext cx="996695" cy="99669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7414877"/>
            <a:satOff val="-7406"/>
            <a:lumOff val="341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414877"/>
              <a:satOff val="-7406"/>
              <a:lumOff val="34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902745" y="2941530"/>
        <a:ext cx="548183" cy="7500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049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159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214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46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215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90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51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027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958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818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433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5351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ideo 3" descr="Stock Market Bar Graph">
            <a:extLst>
              <a:ext uri="{FF2B5EF4-FFF2-40B4-BE49-F238E27FC236}">
                <a16:creationId xmlns:a16="http://schemas.microsoft.com/office/drawing/2014/main" id="{220DE7EC-283F-0D18-4B8B-9D7E1882C6B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>
            <a:alphaModFix/>
          </a:blip>
          <a:srcRect r="-1" b="283"/>
          <a:stretch/>
        </p:blipFill>
        <p:spPr>
          <a:xfrm>
            <a:off x="20" y="10"/>
            <a:ext cx="12191980" cy="685798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8390362-5868-4DF6-BD74-91C72884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035382" y="-1298619"/>
            <a:ext cx="4121238" cy="12191998"/>
          </a:xfrm>
          <a:prstGeom prst="rect">
            <a:avLst/>
          </a:prstGeom>
          <a:gradFill flip="none" rotWithShape="1">
            <a:gsLst>
              <a:gs pos="36000">
                <a:srgbClr val="000000">
                  <a:alpha val="26000"/>
                </a:srgbClr>
              </a:gs>
              <a:gs pos="0">
                <a:srgbClr val="000000">
                  <a:alpha val="0"/>
                </a:srgbClr>
              </a:gs>
              <a:gs pos="61000">
                <a:srgbClr val="0E0D12">
                  <a:alpha val="58000"/>
                </a:srgbClr>
              </a:gs>
              <a:gs pos="88000">
                <a:srgbClr val="000000">
                  <a:alpha val="58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F39B23-BC93-9823-4341-B03FEA529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4142790"/>
            <a:ext cx="6835698" cy="1855646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4200" dirty="0">
                <a:solidFill>
                  <a:srgbClr val="FFFFFF"/>
                </a:solidFill>
              </a:rPr>
              <a:t>STOCK MARKET VOLATILITY PREDICTION 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D0B7AC-A80E-A34F-6C42-DD2DA9204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6937" y="4856468"/>
            <a:ext cx="3211550" cy="1141964"/>
          </a:xfrm>
        </p:spPr>
        <p:txBody>
          <a:bodyPr anchor="b">
            <a:normAutofit/>
          </a:bodyPr>
          <a:lstStyle/>
          <a:p>
            <a:pPr algn="r"/>
            <a:endParaRPr lang="en-IN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5C8BF2-C035-4BFF-8802-A39723834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6272784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348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52DC-ED82-20F7-4314-FB65E1189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Pathway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14174-DDA7-9602-6D26-C143E31A1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Step 1 : use existing models to study application of machine learning algorithms on large data.</a:t>
            </a:r>
          </a:p>
          <a:p>
            <a:r>
              <a:rPr lang="en-IN" dirty="0"/>
              <a:t>Step 2: modify dataset from stock market data to VIX index data (</a:t>
            </a:r>
            <a:r>
              <a:rPr lang="en-IN" dirty="0" err="1"/>
              <a:t>i.e</a:t>
            </a:r>
            <a:r>
              <a:rPr lang="en-IN" dirty="0"/>
              <a:t> make a simplified model resembling the complex model used later)</a:t>
            </a:r>
          </a:p>
          <a:p>
            <a:r>
              <a:rPr lang="en-IN" dirty="0"/>
              <a:t>Step 3 : apply modifications using </a:t>
            </a:r>
            <a:r>
              <a:rPr lang="en-IN" dirty="0" err="1"/>
              <a:t>numpy</a:t>
            </a:r>
            <a:r>
              <a:rPr lang="en-IN" dirty="0"/>
              <a:t> methods </a:t>
            </a:r>
          </a:p>
          <a:p>
            <a:r>
              <a:rPr lang="en-IN" dirty="0"/>
              <a:t>Step 4 : compare predictions of simplistic models (</a:t>
            </a:r>
            <a:r>
              <a:rPr lang="en-IN" dirty="0" err="1"/>
              <a:t>sml</a:t>
            </a:r>
            <a:r>
              <a:rPr lang="en-IN" dirty="0"/>
              <a:t> models) to LSTM (used for medium sized data)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8044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8A1D8A-7E4D-2B21-3714-3B360C242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en-IN" dirty="0"/>
              <a:t>Model chosen</a:t>
            </a:r>
          </a:p>
        </p:txBody>
      </p:sp>
      <p:pic>
        <p:nvPicPr>
          <p:cNvPr id="5" name="Picture 4" descr="Circuit board background">
            <a:extLst>
              <a:ext uri="{FF2B5EF4-FFF2-40B4-BE49-F238E27FC236}">
                <a16:creationId xmlns:a16="http://schemas.microsoft.com/office/drawing/2014/main" id="{EED068F3-CB20-D9E7-5D0F-1855CDD1BD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24" r="43671"/>
          <a:stretch/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3CC1D-D30C-6BAF-63DB-F826359B0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IN" sz="1400" dirty="0"/>
              <a:t>An Long Short-Term Memory (LSTM) type neural network model was chosen</a:t>
            </a:r>
          </a:p>
          <a:p>
            <a:pPr>
              <a:lnSpc>
                <a:spcPct val="110000"/>
              </a:lnSpc>
            </a:pPr>
            <a:r>
              <a:rPr lang="en-IN" sz="1400" dirty="0"/>
              <a:t>It is widely used to study stocks and will be useful to study VIX index data as well</a:t>
            </a:r>
          </a:p>
          <a:p>
            <a:pPr>
              <a:lnSpc>
                <a:spcPct val="110000"/>
              </a:lnSpc>
            </a:pPr>
            <a:r>
              <a:rPr lang="en-IN" sz="1400" dirty="0"/>
              <a:t>It generally works well with any time series input as it can </a:t>
            </a:r>
            <a:r>
              <a:rPr lang="en-US" sz="1400" b="1" dirty="0"/>
              <a:t>remember long-term dependencies</a:t>
            </a:r>
            <a:r>
              <a:rPr lang="en-US" sz="1400" dirty="0"/>
              <a:t> in sequence data</a:t>
            </a:r>
            <a:r>
              <a:rPr lang="en-IN" sz="1400" dirty="0"/>
              <a:t>.</a:t>
            </a:r>
          </a:p>
          <a:p>
            <a:pPr>
              <a:lnSpc>
                <a:spcPct val="110000"/>
              </a:lnSpc>
            </a:pPr>
            <a:r>
              <a:rPr lang="en-IN" sz="1400" dirty="0"/>
              <a:t>In short it has all the features of a standard RNN (Recurrent Neural Network ) but also remembers long term dependencies.</a:t>
            </a:r>
          </a:p>
          <a:p>
            <a:pPr>
              <a:lnSpc>
                <a:spcPct val="110000"/>
              </a:lnSpc>
            </a:pPr>
            <a:r>
              <a:rPr lang="en-IN" sz="1400" dirty="0"/>
              <a:t>There exists a gate navigation  mechanism in LSTM that helps it “remember”.</a:t>
            </a:r>
          </a:p>
          <a:p>
            <a:pPr>
              <a:lnSpc>
                <a:spcPct val="110000"/>
              </a:lnSpc>
            </a:pPr>
            <a:r>
              <a:rPr lang="en-IN" sz="1400" dirty="0"/>
              <a:t>Forget gate – for throwing away data . Cell gate – memory. Input and output gate are self explanatory </a:t>
            </a:r>
          </a:p>
          <a:p>
            <a:pPr>
              <a:lnSpc>
                <a:spcPct val="110000"/>
              </a:lnSpc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256376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E22B1-36D7-6188-255B-0352409AA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5C0A2-2A76-06AB-CB48-7E5FCDB6B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Stock price (close price) data was collected using Pingo API via Pandas </a:t>
            </a:r>
            <a:r>
              <a:rPr lang="en-US" dirty="0" err="1"/>
              <a:t>DataReader</a:t>
            </a:r>
            <a:r>
              <a:rPr lang="en-US" dirty="0"/>
              <a:t> for the time range January 2015 to May 2024. </a:t>
            </a:r>
          </a:p>
          <a:p>
            <a:r>
              <a:rPr lang="en-US" dirty="0"/>
              <a:t>It was then converted to a .csv format for use with python.</a:t>
            </a:r>
          </a:p>
          <a:p>
            <a:r>
              <a:rPr lang="en-US" dirty="0"/>
              <a:t>Normalized the closed price values to a relative score (from 0 to 1 ) for use with LSTM model. This was done using </a:t>
            </a:r>
            <a:r>
              <a:rPr lang="en-US" dirty="0" err="1"/>
              <a:t>MinMaxScaler</a:t>
            </a:r>
            <a:r>
              <a:rPr lang="en-US" dirty="0"/>
              <a:t> from the  Scikit-learn library.</a:t>
            </a:r>
          </a:p>
          <a:p>
            <a:r>
              <a:rPr lang="en-US" dirty="0"/>
              <a:t>A 65-35 split was done to the data while </a:t>
            </a:r>
            <a:r>
              <a:rPr lang="en-US" dirty="0" err="1"/>
              <a:t>retainingits</a:t>
            </a:r>
            <a:r>
              <a:rPr lang="en-US" dirty="0"/>
              <a:t> sequence (essential for time series). The larger portion was used for training and smaller was used for testing.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0484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E27A53-B0E9-6F7F-5EA1-BC809C151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IN" sz="3600"/>
              <a:t>Model architecture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2C94E465-3A25-0E4E-76A5-2C64438DB6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7193103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8521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2088A-0692-49A6-F755-744A79BBC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79B58-1BBE-5C57-3D75-EB757C1FA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1. Load and preprocess data</a:t>
            </a:r>
          </a:p>
          <a:p>
            <a:r>
              <a:rPr lang="en-US" dirty="0"/>
              <a:t>2. Split into train/test</a:t>
            </a:r>
          </a:p>
          <a:p>
            <a:r>
              <a:rPr lang="en-US" dirty="0"/>
              <a:t>3. Create time-stepped datasets</a:t>
            </a:r>
          </a:p>
          <a:p>
            <a:r>
              <a:rPr lang="en-US" dirty="0"/>
              <a:t>4. Reshape for LSTM input (!!!)</a:t>
            </a:r>
          </a:p>
          <a:p>
            <a:r>
              <a:rPr lang="en-US" dirty="0"/>
              <a:t>5. Build and train the model</a:t>
            </a:r>
          </a:p>
          <a:p>
            <a:r>
              <a:rPr lang="en-US" dirty="0"/>
              <a:t>6. Predict on train and test sets</a:t>
            </a:r>
          </a:p>
          <a:p>
            <a:r>
              <a:rPr lang="en-US" dirty="0"/>
              <a:t>7. Inverse transform predictions</a:t>
            </a:r>
          </a:p>
          <a:p>
            <a:r>
              <a:rPr lang="en-US" dirty="0"/>
              <a:t>8. Evaluate and plot results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906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E770EC-AA59-1F41-53F9-F89E2C6F0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0"/>
            <a:ext cx="5752093" cy="1097280"/>
          </a:xfrm>
        </p:spPr>
        <p:txBody>
          <a:bodyPr>
            <a:normAutofit/>
          </a:bodyPr>
          <a:lstStyle/>
          <a:p>
            <a:r>
              <a:rPr lang="en-IN" dirty="0"/>
              <a:t>Results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FC7AC-4BA7-6015-C927-4857B5F7D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6205"/>
            <a:ext cx="5752095" cy="3661713"/>
          </a:xfrm>
        </p:spPr>
        <p:txBody>
          <a:bodyPr>
            <a:normAutofit/>
          </a:bodyPr>
          <a:lstStyle/>
          <a:p>
            <a:r>
              <a:rPr lang="en-IN" dirty="0"/>
              <a:t>The blue line shows actual stock price historically (whole data)</a:t>
            </a:r>
          </a:p>
          <a:p>
            <a:r>
              <a:rPr lang="en-IN" dirty="0"/>
              <a:t>Orange line shows the predictions made which can be compared to our data.</a:t>
            </a:r>
          </a:p>
          <a:p>
            <a:r>
              <a:rPr lang="en-IN" dirty="0"/>
              <a:t>Green line shows future predictions .</a:t>
            </a:r>
          </a:p>
          <a:p>
            <a:r>
              <a:rPr lang="en-IN" dirty="0"/>
              <a:t>Training </a:t>
            </a:r>
            <a:r>
              <a:rPr lang="en-IN" dirty="0" err="1"/>
              <a:t>rmse</a:t>
            </a:r>
            <a:r>
              <a:rPr lang="en-IN" dirty="0"/>
              <a:t> was 225 and test </a:t>
            </a:r>
            <a:r>
              <a:rPr lang="en-IN" dirty="0" err="1"/>
              <a:t>rmse</a:t>
            </a:r>
            <a:r>
              <a:rPr lang="en-IN" dirty="0"/>
              <a:t> was 235 . So , the model did slightly worse </a:t>
            </a:r>
            <a:r>
              <a:rPr lang="en-IN"/>
              <a:t>than expected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1081BE-93A1-5103-E6EF-F0B2F85DB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7946" y="3607283"/>
            <a:ext cx="4250585" cy="26219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E19689-DC00-329D-E4A6-ABFDD0A72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481" y="1752101"/>
            <a:ext cx="5287113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4986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491</Words>
  <Application>Microsoft Office PowerPoint</Application>
  <PresentationFormat>Widescreen</PresentationFormat>
  <Paragraphs>37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Grandview Display</vt:lpstr>
      <vt:lpstr>DashVTI</vt:lpstr>
      <vt:lpstr>STOCK MARKET VOLATILITY PREDICTION USING MACHINE LEARNING</vt:lpstr>
      <vt:lpstr>Pathway</vt:lpstr>
      <vt:lpstr>Model chosen</vt:lpstr>
      <vt:lpstr>Data used</vt:lpstr>
      <vt:lpstr>Model architecture</vt:lpstr>
      <vt:lpstr>The pipeline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Kher Abhiman Anupam</dc:creator>
  <cp:lastModifiedBy>Kher Abhiman Anupam</cp:lastModifiedBy>
  <cp:revision>1</cp:revision>
  <dcterms:created xsi:type="dcterms:W3CDTF">2025-04-14T15:27:47Z</dcterms:created>
  <dcterms:modified xsi:type="dcterms:W3CDTF">2025-04-14T16:25:27Z</dcterms:modified>
</cp:coreProperties>
</file>